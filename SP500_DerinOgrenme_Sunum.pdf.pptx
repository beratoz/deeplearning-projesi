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embeddedFontLst>
    <p:embeddedFont>
      <p:font typeface="DejaVu Sans Bold" panose="020B0604020202020204" charset="0"/>
      <p:regular r:id="rId11"/>
    </p:embeddedFont>
    <p:embeddedFont>
      <p:font typeface="DejaVu Sans Light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2318692" cy="6984997"/>
          </a:xfrm>
          <a:custGeom>
            <a:avLst/>
            <a:gdLst/>
            <a:ahLst/>
            <a:cxnLst/>
            <a:rect l="l" t="t" r="r" b="b"/>
            <a:pathLst>
              <a:path w="12318692" h="6984997">
                <a:moveTo>
                  <a:pt x="0" y="0"/>
                </a:moveTo>
                <a:lnTo>
                  <a:pt x="12318692" y="0"/>
                </a:lnTo>
                <a:lnTo>
                  <a:pt x="12318692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863603" y="4402293"/>
            <a:ext cx="1344778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Binary Classification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7997" y="6477867"/>
            <a:ext cx="2316747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S&amp;P 500 • Feedforward Neural Network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61412" y="4402293"/>
            <a:ext cx="1254719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TensorFlow / Keras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70934" y="4402293"/>
            <a:ext cx="1414910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T+5 Gün Yön Tahmini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7505" y="4402293"/>
            <a:ext cx="1158059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9 Finansal Özellik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52262" y="4402293"/>
            <a:ext cx="1122826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Dense + Dropout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27076" y="6477867"/>
            <a:ext cx="184071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 /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6003" y="4906804"/>
            <a:ext cx="10259425" cy="4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100" b="1">
                <a:solidFill>
                  <a:srgbClr val="22D3E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PROBLEM ÖZETİ</a:t>
            </a:r>
          </a:p>
          <a:p>
            <a:pPr algn="l">
              <a:lnSpc>
                <a:spcPts val="1999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Gürültülü finansal zaman serilerinden S&amp;P 500'ün T+5 günlük yön hareketini (yükseliş / düşüş) tahmin eden bir ileri beslemeli sinir ağı.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" y="1325404"/>
            <a:ext cx="3130210" cy="194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b="1">
                <a:solidFill>
                  <a:srgbClr val="22D3E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DERİN ÖĞRENME • DENEYSEL ÇALIŞMA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000" y="2049780"/>
            <a:ext cx="8907894" cy="116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9"/>
              </a:lnSpc>
            </a:pPr>
            <a:r>
              <a:rPr lang="en-US" sz="4800" b="1" dirty="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S&amp;P 500 </a:t>
            </a:r>
            <a:r>
              <a:rPr lang="en-US" sz="4800" b="1" dirty="0" err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Yön</a:t>
            </a:r>
            <a:r>
              <a:rPr lang="en-US" sz="4800" b="1" dirty="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Tahmini</a:t>
            </a:r>
            <a:r>
              <a:rPr lang="en-US" sz="4800" b="1" dirty="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:</a:t>
            </a:r>
            <a:endParaRPr lang="en-US" sz="4800" b="1" dirty="0">
              <a:solidFill>
                <a:srgbClr val="22D3EE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4500"/>
              </a:lnSpc>
            </a:pPr>
            <a:r>
              <a:rPr lang="en-US" sz="1800" dirty="0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Feedforward Neural Network </a:t>
            </a:r>
            <a:r>
              <a:rPr lang="en-US" sz="1800" dirty="0" err="1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Uygulaması</a:t>
            </a:r>
            <a:endParaRPr lang="en-US" sz="1800" dirty="0">
              <a:solidFill>
                <a:srgbClr val="F8FAFC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7997" y="635003"/>
            <a:ext cx="76200" cy="762000"/>
          </a:xfrm>
          <a:custGeom>
            <a:avLst/>
            <a:gdLst/>
            <a:ahLst/>
            <a:cxnLst/>
            <a:rect l="l" t="t" r="r" b="b"/>
            <a:pathLst>
              <a:path w="76200" h="762000">
                <a:moveTo>
                  <a:pt x="0" y="0"/>
                </a:moveTo>
                <a:lnTo>
                  <a:pt x="76200" y="0"/>
                </a:lnTo>
                <a:lnTo>
                  <a:pt x="76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-63503" y="-63503"/>
            <a:ext cx="12318692" cy="203197"/>
          </a:xfrm>
          <a:custGeom>
            <a:avLst/>
            <a:gdLst/>
            <a:ahLst/>
            <a:cxnLst/>
            <a:rect l="l" t="t" r="r" b="b"/>
            <a:pathLst>
              <a:path w="12318692" h="203197">
                <a:moveTo>
                  <a:pt x="0" y="0"/>
                </a:moveTo>
                <a:lnTo>
                  <a:pt x="12318692" y="0"/>
                </a:lnTo>
                <a:lnTo>
                  <a:pt x="12318692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7048500" y="1714500"/>
            <a:ext cx="4737097" cy="3086100"/>
          </a:xfrm>
          <a:custGeom>
            <a:avLst/>
            <a:gdLst/>
            <a:ahLst/>
            <a:cxnLst/>
            <a:rect l="l" t="t" r="r" b="b"/>
            <a:pathLst>
              <a:path w="4737097" h="3086100">
                <a:moveTo>
                  <a:pt x="0" y="0"/>
                </a:moveTo>
                <a:lnTo>
                  <a:pt x="4737097" y="0"/>
                </a:lnTo>
                <a:lnTo>
                  <a:pt x="4737097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TextBox 5"/>
          <p:cNvSpPr txBox="1"/>
          <p:nvPr/>
        </p:nvSpPr>
        <p:spPr>
          <a:xfrm>
            <a:off x="507997" y="6477867"/>
            <a:ext cx="2316747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S&amp;P 500 • Feedforward Neural Network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27076" y="6477867"/>
            <a:ext cx="184071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2 /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2797" y="741683"/>
            <a:ext cx="3205077" cy="49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Problem Tanımı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7140" y="1225039"/>
            <a:ext cx="53530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2797" y="1225039"/>
            <a:ext cx="494240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Finansal zaman serilerinde sınıflandırma olarak yön tahmini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2797" y="3027988"/>
            <a:ext cx="6098981" cy="651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Amacımız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bu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gürültülü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verinin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içinden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öğrenilebilir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bir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yapı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çıkarmak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: T+5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gün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sonraki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kapanış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fiyatının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bugünkü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fiyatın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üzerine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çıkıp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çıkmayacağını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tahmin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eden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bir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ikili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sınıflandırıcı</a:t>
            </a:r>
            <a:r>
              <a:rPr lang="en-US" sz="12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797" y="1884988"/>
            <a:ext cx="6121070" cy="651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20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Finansal piyasalar, düşük sinyal-gürültü oranına (signal-to-noise) sahip karmaşık sistemlerdir. Fiyat hareketleri; makro haberler, likidite şokları, sektör rotasyonu ve sayısız psikolojik etmenin süperpozisyonudur.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2797" y="5097304"/>
            <a:ext cx="7022221" cy="77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100" b="1">
                <a:solidFill>
                  <a:srgbClr val="A31F34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NEDEN ZOR?</a:t>
            </a:r>
          </a:p>
          <a:p>
            <a:pPr algn="l">
              <a:lnSpc>
                <a:spcPts val="1999"/>
              </a:lnSpc>
            </a:pPr>
            <a:r>
              <a:rPr lang="en-US" sz="1150">
                <a:solidFill>
                  <a:srgbClr val="0F172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Rastgele tahmin tabanı ~%50'dir; her 1 puanlık gerçek iyileşme, ticari uygulamada önemlidir. Volatilite rejim değişiklikleri, modelin genellemesini (generalization) sürekli tehdit eder.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79022" y="2115656"/>
            <a:ext cx="4076052" cy="357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"/>
              </a:lnSpc>
            </a:pPr>
            <a:r>
              <a:rPr lang="en-US" sz="1100" b="1" dirty="0">
                <a:solidFill>
                  <a:srgbClr val="22D3E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HEDEF DEĞİŞKEN</a:t>
            </a:r>
            <a:endParaRPr lang="tr-TR" sz="1100" b="1" dirty="0">
              <a:solidFill>
                <a:srgbClr val="22D3EE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550"/>
              </a:lnSpc>
            </a:pPr>
            <a:endParaRPr lang="tr-TR" sz="1100" b="1" dirty="0">
              <a:solidFill>
                <a:srgbClr val="22D3EE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550"/>
              </a:lnSpc>
            </a:pPr>
            <a:endParaRPr lang="en-US" sz="1100" b="1" dirty="0">
              <a:solidFill>
                <a:srgbClr val="22D3EE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800"/>
              </a:lnSpc>
            </a:pPr>
            <a:r>
              <a:rPr lang="en-US" sz="1600" b="1" dirty="0" err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Hedef</a:t>
            </a:r>
            <a:r>
              <a:rPr lang="en-US" sz="1600" b="1" dirty="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= 1 if </a:t>
            </a:r>
            <a:r>
              <a:rPr lang="en-US" sz="1600" b="1" dirty="0" err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Fiyat</a:t>
            </a:r>
            <a:r>
              <a:rPr lang="en-US" sz="1600" b="1" dirty="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(T+5) &gt; </a:t>
            </a:r>
            <a:r>
              <a:rPr lang="en-US" sz="1600" b="1" dirty="0" err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Fiyat</a:t>
            </a:r>
            <a:r>
              <a:rPr lang="en-US" sz="1600" b="1" dirty="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(T)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96086" y="3811591"/>
            <a:ext cx="45101" cy="179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>
                <a:solidFill>
                  <a:srgbClr val="F59E0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5997" y="4027665"/>
            <a:ext cx="2519524" cy="610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 ~257.000 satır günlük fiyat verisi • S&amp;P 500 sektör ETF'leri</a:t>
            </a:r>
          </a:p>
          <a:p>
            <a:pPr algn="l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 Makro olay pencereleri etrafında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65997" y="3110084"/>
            <a:ext cx="4140603" cy="57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00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Her örneklem için 5 iş günü ileri kaydırılmış kapanış fiyatı, bugünkü kapanıştan yüksekse sınıf 1 (yükseliş), aksi</a:t>
            </a:r>
          </a:p>
          <a:p>
            <a:pPr algn="l">
              <a:lnSpc>
                <a:spcPts val="1500"/>
              </a:lnSpc>
            </a:pPr>
            <a:r>
              <a:rPr lang="en-US" sz="1100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halde sınıf 0 (düşüş).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65997" y="2566035"/>
            <a:ext cx="72161" cy="28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73428" y="2566035"/>
            <a:ext cx="1480195" cy="28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 aksi halde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65997" y="3811591"/>
            <a:ext cx="700135" cy="179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>
                <a:solidFill>
                  <a:srgbClr val="F59E0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VERİ</a:t>
            </a:r>
            <a:r>
              <a:rPr lang="en-US" sz="10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en-US" sz="1000" b="1">
                <a:solidFill>
                  <a:srgbClr val="F59E0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SETİ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7997" y="635003"/>
            <a:ext cx="76200" cy="762000"/>
          </a:xfrm>
          <a:custGeom>
            <a:avLst/>
            <a:gdLst/>
            <a:ahLst/>
            <a:cxnLst/>
            <a:rect l="l" t="t" r="r" b="b"/>
            <a:pathLst>
              <a:path w="76200" h="762000">
                <a:moveTo>
                  <a:pt x="0" y="0"/>
                </a:moveTo>
                <a:lnTo>
                  <a:pt x="76200" y="0"/>
                </a:lnTo>
                <a:lnTo>
                  <a:pt x="76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819150" y="2025653"/>
            <a:ext cx="3695700" cy="2362200"/>
          </a:xfrm>
          <a:custGeom>
            <a:avLst/>
            <a:gdLst/>
            <a:ahLst/>
            <a:cxnLst/>
            <a:rect l="l" t="t" r="r" b="b"/>
            <a:pathLst>
              <a:path w="3695700" h="2362200">
                <a:moveTo>
                  <a:pt x="0" y="0"/>
                </a:moveTo>
                <a:lnTo>
                  <a:pt x="3695700" y="0"/>
                </a:lnTo>
                <a:lnTo>
                  <a:pt x="36957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4698997" y="2095500"/>
            <a:ext cx="3302003" cy="2222497"/>
          </a:xfrm>
          <a:custGeom>
            <a:avLst/>
            <a:gdLst/>
            <a:ahLst/>
            <a:cxnLst/>
            <a:rect l="l" t="t" r="r" b="b"/>
            <a:pathLst>
              <a:path w="3302003" h="2222497">
                <a:moveTo>
                  <a:pt x="0" y="0"/>
                </a:moveTo>
                <a:lnTo>
                  <a:pt x="3302003" y="0"/>
                </a:lnTo>
                <a:lnTo>
                  <a:pt x="3302003" y="2222497"/>
                </a:lnTo>
                <a:lnTo>
                  <a:pt x="0" y="2222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-63503" y="-63503"/>
            <a:ext cx="12318692" cy="203197"/>
          </a:xfrm>
          <a:custGeom>
            <a:avLst/>
            <a:gdLst/>
            <a:ahLst/>
            <a:cxnLst/>
            <a:rect l="l" t="t" r="r" b="b"/>
            <a:pathLst>
              <a:path w="12318692" h="203197">
                <a:moveTo>
                  <a:pt x="0" y="0"/>
                </a:moveTo>
                <a:lnTo>
                  <a:pt x="12318692" y="0"/>
                </a:lnTo>
                <a:lnTo>
                  <a:pt x="12318692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8186423" y="2026920"/>
            <a:ext cx="3693157" cy="2359657"/>
          </a:xfrm>
          <a:custGeom>
            <a:avLst/>
            <a:gdLst/>
            <a:ahLst/>
            <a:cxnLst/>
            <a:rect l="l" t="t" r="r" b="b"/>
            <a:pathLst>
              <a:path w="3693157" h="2359657">
                <a:moveTo>
                  <a:pt x="0" y="0"/>
                </a:moveTo>
                <a:lnTo>
                  <a:pt x="3693157" y="0"/>
                </a:lnTo>
                <a:lnTo>
                  <a:pt x="3693157" y="2359657"/>
                </a:lnTo>
                <a:lnTo>
                  <a:pt x="0" y="23596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1219200" y="2725893"/>
            <a:ext cx="156324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x1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200" y="3106893"/>
            <a:ext cx="156324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x2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9200" y="3487893"/>
            <a:ext cx="156324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x3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200" y="3868893"/>
            <a:ext cx="156324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x4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997" y="6477867"/>
            <a:ext cx="2316747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S&amp;P 500 • Feedforward Neural Network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89397" y="3297393"/>
            <a:ext cx="76000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27076" y="6477867"/>
            <a:ext cx="184071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 /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2797" y="741683"/>
            <a:ext cx="2726360" cy="49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Teknik Temel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4786" y="1225039"/>
            <a:ext cx="53530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6800" y="2204723"/>
            <a:ext cx="2585533" cy="20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dirty="0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1) </a:t>
            </a:r>
            <a:r>
              <a:rPr lang="tr-TR" sz="1200" b="1" dirty="0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Nöron</a:t>
            </a:r>
            <a:r>
              <a:rPr lang="en-US" sz="1200" b="1" dirty="0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76800" y="2204723"/>
            <a:ext cx="1918354" cy="21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22D3E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2) Matematiksel ifade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32797" y="2204723"/>
            <a:ext cx="2526563" cy="21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3) Dense (tam-bağlı) katman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2797" y="5433851"/>
            <a:ext cx="10202789" cy="44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100" b="1">
                <a:solidFill>
                  <a:srgbClr val="A31F34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NEDEN FEEDFORWARD?</a:t>
            </a:r>
          </a:p>
          <a:p>
            <a:pPr algn="l">
              <a:lnSpc>
                <a:spcPts val="1799"/>
              </a:lnSpc>
            </a:pPr>
            <a:r>
              <a:rPr lang="en-US" sz="1100">
                <a:solidFill>
                  <a:srgbClr val="0F172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Girdimiz sabit boyutta, satır başına tek bir örneklem — Dense mimari bu tür tabular problemde ilk denenecek güçlü temel modeldir (baseline).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42961" y="3176426"/>
            <a:ext cx="269348" cy="32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4"/>
              </a:lnSpc>
            </a:pPr>
            <a:r>
              <a:rPr lang="en-US" sz="11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Σ</a:t>
            </a:r>
          </a:p>
          <a:p>
            <a:pPr algn="ctr">
              <a:lnSpc>
                <a:spcPts val="1256"/>
              </a:lnSpc>
            </a:pPr>
            <a:r>
              <a:rPr lang="en-US" sz="8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ReLU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12956" y="2670172"/>
            <a:ext cx="2319576" cy="35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y = σ( W·x + b 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53000" y="3217593"/>
            <a:ext cx="2271817" cy="856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000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W — ağırlık matrisi (öğrenilen)</a:t>
            </a:r>
          </a:p>
          <a:p>
            <a:pPr algn="l">
              <a:lnSpc>
                <a:spcPts val="1700"/>
              </a:lnSpc>
            </a:pPr>
            <a:r>
              <a:rPr lang="en-US" sz="1000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 — sapma terimi (bias)</a:t>
            </a:r>
          </a:p>
          <a:p>
            <a:pPr algn="l">
              <a:lnSpc>
                <a:spcPts val="1700"/>
              </a:lnSpc>
            </a:pPr>
            <a:r>
              <a:rPr lang="en-US" sz="1000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σ — aktivasyon: ReLU / Sigmoid</a:t>
            </a:r>
          </a:p>
          <a:p>
            <a:pPr algn="l">
              <a:lnSpc>
                <a:spcPts val="1700"/>
              </a:lnSpc>
            </a:pPr>
            <a:r>
              <a:rPr lang="en-US" sz="1000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x — giriş özellik vektörü (9 boyut)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2797" y="4556522"/>
            <a:ext cx="10486892" cy="42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9"/>
              </a:lnSpc>
            </a:pPr>
            <a:r>
              <a:rPr lang="tr-TR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ğırlıklı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girdileri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toplayıp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aktivasyona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sokan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tek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nörondur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. Birden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fazla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perceptron'u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paralel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dizerseniz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tam-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bağlı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Dense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katmanı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, Dense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katmanları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peş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peşe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eklediğinizde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ise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ileri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beslemeli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(feedforward)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derin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sinir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ağını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elde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edersiniz</a:t>
            </a:r>
            <a:r>
              <a:rPr lang="en-US" sz="11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7997" y="635003"/>
            <a:ext cx="76200" cy="762000"/>
          </a:xfrm>
          <a:custGeom>
            <a:avLst/>
            <a:gdLst/>
            <a:ahLst/>
            <a:cxnLst/>
            <a:rect l="l" t="t" r="r" b="b"/>
            <a:pathLst>
              <a:path w="76200" h="762000">
                <a:moveTo>
                  <a:pt x="0" y="0"/>
                </a:moveTo>
                <a:lnTo>
                  <a:pt x="76200" y="0"/>
                </a:lnTo>
                <a:lnTo>
                  <a:pt x="76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745493" y="1583693"/>
            <a:ext cx="5849617" cy="3944617"/>
          </a:xfrm>
          <a:custGeom>
            <a:avLst/>
            <a:gdLst/>
            <a:ahLst/>
            <a:cxnLst/>
            <a:rect l="l" t="t" r="r" b="b"/>
            <a:pathLst>
              <a:path w="5849617" h="3944617">
                <a:moveTo>
                  <a:pt x="0" y="0"/>
                </a:moveTo>
                <a:lnTo>
                  <a:pt x="5849617" y="0"/>
                </a:lnTo>
                <a:lnTo>
                  <a:pt x="5849617" y="3944617"/>
                </a:lnTo>
                <a:lnTo>
                  <a:pt x="0" y="3944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-63503" y="-63503"/>
            <a:ext cx="12318692" cy="203197"/>
          </a:xfrm>
          <a:custGeom>
            <a:avLst/>
            <a:gdLst/>
            <a:ahLst/>
            <a:cxnLst/>
            <a:rect l="l" t="t" r="r" b="b"/>
            <a:pathLst>
              <a:path w="12318692" h="203197">
                <a:moveTo>
                  <a:pt x="0" y="0"/>
                </a:moveTo>
                <a:lnTo>
                  <a:pt x="12318692" y="0"/>
                </a:lnTo>
                <a:lnTo>
                  <a:pt x="12318692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6917693" y="1202693"/>
            <a:ext cx="4956810" cy="4220213"/>
          </a:xfrm>
          <a:custGeom>
            <a:avLst/>
            <a:gdLst/>
            <a:ahLst/>
            <a:cxnLst/>
            <a:rect l="l" t="t" r="r" b="b"/>
            <a:pathLst>
              <a:path w="4956810" h="4220213">
                <a:moveTo>
                  <a:pt x="0" y="0"/>
                </a:moveTo>
                <a:lnTo>
                  <a:pt x="4956810" y="0"/>
                </a:lnTo>
                <a:lnTo>
                  <a:pt x="4956810" y="4220213"/>
                </a:lnTo>
                <a:lnTo>
                  <a:pt x="0" y="42202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 dirty="0"/>
          </a:p>
        </p:txBody>
      </p:sp>
      <p:sp>
        <p:nvSpPr>
          <p:cNvPr id="6" name="TextBox 6"/>
          <p:cNvSpPr txBox="1"/>
          <p:nvPr/>
        </p:nvSpPr>
        <p:spPr>
          <a:xfrm>
            <a:off x="507997" y="6477867"/>
            <a:ext cx="2316747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S&amp;P 500 • Feedforward Neural Network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27076" y="6477867"/>
            <a:ext cx="184071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4 /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2797" y="741683"/>
            <a:ext cx="5684911" cy="91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Veri </a:t>
            </a:r>
            <a:r>
              <a:rPr lang="en-US" sz="2799" b="1" dirty="0" err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ve</a:t>
            </a:r>
            <a:r>
              <a:rPr lang="en-US" sz="2799" b="1" dirty="0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en-US" sz="2799" b="1" dirty="0" err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Özellik</a:t>
            </a:r>
            <a:r>
              <a:rPr lang="tr-TR" sz="2799" b="1" dirty="0" err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ler</a:t>
            </a:r>
            <a:r>
              <a:rPr lang="en-US" sz="1300" b="1" dirty="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9 </a:t>
            </a:r>
            <a:r>
              <a:rPr lang="en-US" sz="1300" b="1" dirty="0" err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Girdi</a:t>
            </a:r>
            <a:r>
              <a:rPr lang="en-US" sz="1300" b="1" dirty="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Özelliği</a:t>
            </a:r>
            <a:r>
              <a:rPr lang="en-US" sz="1300" b="1" dirty="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→ Dense(64) </a:t>
            </a:r>
            <a:r>
              <a:rPr lang="en-US" sz="1300" b="1" dirty="0" err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katmanına</a:t>
            </a:r>
            <a:endParaRPr lang="en-US" sz="1300" b="1" dirty="0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188203" y="4442936"/>
            <a:ext cx="2340769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3) Leakage-safe pipeline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54857" y="4727524"/>
            <a:ext cx="4323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88203" y="1394936"/>
            <a:ext cx="3371002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 dirty="0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1) </a:t>
            </a:r>
            <a:r>
              <a:rPr lang="en-US" sz="1300" b="1" dirty="0" err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StandardScaler</a:t>
            </a:r>
            <a:r>
              <a:rPr lang="en-US" sz="1300" b="1" dirty="0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— </a:t>
            </a:r>
            <a:r>
              <a:rPr lang="en-US" sz="1300" b="1" dirty="0" err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Ölçeklendirme</a:t>
            </a:r>
            <a:endParaRPr lang="en-US" sz="1300" b="1" dirty="0">
              <a:solidFill>
                <a:srgbClr val="1E3A8A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889719" y="1679524"/>
            <a:ext cx="4323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88203" y="2918936"/>
            <a:ext cx="4238911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2) shuffle = False — Zaman Serisi Bütünlüğü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70662" y="3203524"/>
            <a:ext cx="4323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4603" y="2215763"/>
            <a:ext cx="1091851" cy="282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00"/>
              </a:lnSpc>
            </a:pPr>
            <a:r>
              <a:rPr lang="en-US" sz="1000">
                <a:solidFill>
                  <a:srgbClr val="0F172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Log_Getiri Volatilite_10g Volatilite_30g RSI_14 MACD_12_26_9 MACDh_12_26_9 MACDs_12_26_9 BBL_20_2.0 BBU_20_2.0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52800" y="2226993"/>
            <a:ext cx="2594534" cy="282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00"/>
              </a:lnSpc>
            </a:pP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Fiyatın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logaritmik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getirisi</a:t>
            </a:r>
            <a:endParaRPr lang="en-US" sz="1000" dirty="0">
              <a:solidFill>
                <a:srgbClr val="334155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just">
              <a:lnSpc>
                <a:spcPts val="2500"/>
              </a:lnSpc>
            </a:pP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10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günlük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oynaklık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ölçüsü</a:t>
            </a:r>
            <a:endParaRPr lang="en-US" sz="1000" dirty="0">
              <a:solidFill>
                <a:srgbClr val="334155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just">
              <a:lnSpc>
                <a:spcPts val="2500"/>
              </a:lnSpc>
            </a:pP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30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günlük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oynaklık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ölçüsü</a:t>
            </a:r>
            <a:endParaRPr lang="en-US" sz="1000" dirty="0">
              <a:solidFill>
                <a:srgbClr val="334155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just">
              <a:lnSpc>
                <a:spcPts val="2500"/>
              </a:lnSpc>
            </a:pP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Göreceli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Güç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Endeksi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(momentum)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Hareketli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ortalama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yakınsama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/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ıraksama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MACD histogram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bileşeni</a:t>
            </a:r>
            <a:endParaRPr lang="en-US" sz="1000" dirty="0">
              <a:solidFill>
                <a:srgbClr val="334155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just">
              <a:lnSpc>
                <a:spcPts val="2500"/>
              </a:lnSpc>
            </a:pP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MACD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sinyal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çizgisi</a:t>
            </a:r>
            <a:endParaRPr lang="en-US" sz="1000" dirty="0">
              <a:solidFill>
                <a:srgbClr val="334155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just">
              <a:lnSpc>
                <a:spcPts val="2500"/>
              </a:lnSpc>
            </a:pP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Bollinger alt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bandı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(20g, 2σ)</a:t>
            </a:r>
          </a:p>
          <a:p>
            <a:pPr algn="just">
              <a:lnSpc>
                <a:spcPts val="2500"/>
              </a:lnSpc>
            </a:pP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Bollinger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üst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bandı</a:t>
            </a:r>
            <a:r>
              <a:rPr lang="en-US" sz="100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(20g, 2σ)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88203" y="3203524"/>
            <a:ext cx="2634263" cy="17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Train/Test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ayrımında</a:t>
            </a:r>
            <a:r>
              <a:rPr lang="tr-TR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veri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karıştırılmaz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88203" y="3390852"/>
            <a:ext cx="4143004" cy="355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Geçmiş ile eğitilir, gelecek ile test edilir.</a:t>
            </a:r>
          </a:p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Karıştırma, modele gelecekteki bilgiyi sızdırır (data leakage).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88203" y="4727524"/>
            <a:ext cx="4012301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Ölçeklendirmeparametreleri yalnızca train'den hesaplanır.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88203" y="4905327"/>
            <a:ext cx="4294765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Bu, geleceği bugüne taşımayı önler — realistik metrikler üretir.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88203" y="1679524"/>
            <a:ext cx="4064641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Her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özelliksıfır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ortalama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ve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birimvaryansa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çekilir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(z-score).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88203" y="1866852"/>
            <a:ext cx="4478331" cy="355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Gradient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tabanlı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eğitimde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yakınsama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hızını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ve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kararlılığı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artırır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.</a:t>
            </a:r>
          </a:p>
          <a:p>
            <a:pPr algn="l">
              <a:lnSpc>
                <a:spcPts val="1399"/>
              </a:lnSpc>
            </a:pP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fit()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yalnızca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eğitim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setine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uygulanır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; test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için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sadece</a:t>
            </a:r>
            <a:r>
              <a:rPr lang="en-US" sz="1050" dirty="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transform().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3233B3F7-7DE1-5046-6C24-527F53BF2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487760"/>
              </p:ext>
            </p:extLst>
          </p:nvPr>
        </p:nvGraphicFramePr>
        <p:xfrm>
          <a:off x="152400" y="931052"/>
          <a:ext cx="11734800" cy="5199457"/>
        </p:xfrm>
        <a:graphic>
          <a:graphicData uri="http://schemas.openxmlformats.org/drawingml/2006/table">
            <a:tbl>
              <a:tblPr/>
              <a:tblGrid>
                <a:gridCol w="3911600">
                  <a:extLst>
                    <a:ext uri="{9D8B030D-6E8A-4147-A177-3AD203B41FA5}">
                      <a16:colId xmlns:a16="http://schemas.microsoft.com/office/drawing/2014/main" val="3372365301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1305621460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1209928427"/>
                    </a:ext>
                  </a:extLst>
                </a:gridCol>
              </a:tblGrid>
              <a:tr h="2355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Kısaltma</a:t>
                      </a:r>
                      <a:endParaRPr lang="tr-T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Açılımı / Türkçe Karşılığı</a:t>
                      </a:r>
                      <a:endParaRPr lang="tr-T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 İşe Yarar? / Modele Ne Söyler?</a:t>
                      </a:r>
                      <a:endParaRPr lang="tr-T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215267"/>
                  </a:ext>
                </a:extLst>
              </a:tr>
              <a:tr h="6149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Log_Getiri</a:t>
                      </a:r>
                      <a:endParaRPr lang="tr-T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Logarithmic</a:t>
                      </a: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Return (Logaritmik Getiri)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Fiyatın bir önceki güne göre oransal değişimini gösterir. 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546833"/>
                  </a:ext>
                </a:extLst>
              </a:tr>
              <a:tr h="77495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Volatilite_10g</a:t>
                      </a:r>
                      <a:endParaRPr lang="tr-T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b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endParaRPr lang="tr-T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>
                        <a:buNone/>
                      </a:pPr>
                      <a:r>
                        <a:rPr lang="tr-TR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Volatilite_30g</a:t>
                      </a:r>
                      <a:endParaRPr lang="tr-T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Volatility</a:t>
                      </a: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(10 ve 30 Günlük Oynaklık)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Fiyatların ilgili dönemde ne kadar şiddetli dalgalandığını (standart sapmasını) ölçer. 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535888"/>
                  </a:ext>
                </a:extLst>
              </a:tr>
              <a:tr h="6149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RSI_14</a:t>
                      </a:r>
                      <a:endParaRPr lang="tr-T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Relative</a:t>
                      </a: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Strength</a:t>
                      </a: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Index (Göreceli Güç Endeksi)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 ile 100 arasında değer alır. Modele bir varlığın "aşırı alındığını" veya "aşırı satıldığını söyler.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432840"/>
                  </a:ext>
                </a:extLst>
              </a:tr>
              <a:tr h="59514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MACD_12_26_9</a:t>
                      </a:r>
                      <a:endParaRPr lang="tr-T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Moving</a:t>
                      </a: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Average</a:t>
                      </a: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Convergence</a:t>
                      </a: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Divergence</a:t>
                      </a: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(Hareketli Ortalama Yakınsama/Iraksama)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 günlük fiyat eğilimi ile  26 günlük fiyat eğilimi arasındaki ilişkiyi gösterir. Modele ana trendin yönü ve gücü hakkında net bir sinyal verir.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80914"/>
                  </a:ext>
                </a:extLst>
              </a:tr>
              <a:tr h="41533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MACDh</a:t>
                      </a:r>
                      <a:r>
                        <a:rPr lang="tr-TR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_...</a:t>
                      </a:r>
                      <a:endParaRPr lang="tr-T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MACD Histogram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MACD çizgisi ile Sinyal çizgisi arasındaki farktır. Trendin ivme kazanıp kazanmadığını gösterir.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241594"/>
                  </a:ext>
                </a:extLst>
              </a:tr>
              <a:tr h="5457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MACDs</a:t>
                      </a:r>
                      <a:r>
                        <a:rPr lang="tr-TR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_...</a:t>
                      </a:r>
                      <a:endParaRPr lang="tr-T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MACD </a:t>
                      </a:r>
                      <a:r>
                        <a:rPr lang="tr-TR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Signal</a:t>
                      </a: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(Sinyal Çizgisi)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Fiyatın yön değiştireceği yerleri önceden sezmesine yardımcı olur.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005844"/>
                  </a:ext>
                </a:extLst>
              </a:tr>
              <a:tr h="7533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BBL_20_2.0</a:t>
                      </a:r>
                      <a:endParaRPr lang="tr-T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Bollinger Bands Lower (Bollinger Alt Bandı)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‘’Fiyat istatistiksel olarak normalden fazla düştü, yukarı tepki gelebilir" şeklinde bir kalıp öğrenebilir.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259620"/>
                  </a:ext>
                </a:extLst>
              </a:tr>
              <a:tr h="6149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BBU_20_2.0</a:t>
                      </a:r>
                      <a:endParaRPr lang="tr-T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Bollinger Bands Upper (Bollinger Üst Bandı)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‘’</a:t>
                      </a:r>
                      <a:r>
                        <a:rPr lang="tr-TR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Fyat</a:t>
                      </a:r>
                      <a:r>
                        <a:rPr lang="tr-TR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istatistiksel olarak normalden fazla yükseldi, geri çekilme olabilir" bilgisini taşır.</a:t>
                      </a:r>
                    </a:p>
                  </a:txBody>
                  <a:tcPr marL="21249" marR="21249" marT="28332" marB="2833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929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33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7997" y="635003"/>
            <a:ext cx="76200" cy="762000"/>
          </a:xfrm>
          <a:custGeom>
            <a:avLst/>
            <a:gdLst/>
            <a:ahLst/>
            <a:cxnLst/>
            <a:rect l="l" t="t" r="r" b="b"/>
            <a:pathLst>
              <a:path w="76200" h="762000">
                <a:moveTo>
                  <a:pt x="0" y="0"/>
                </a:moveTo>
                <a:lnTo>
                  <a:pt x="76200" y="0"/>
                </a:lnTo>
                <a:lnTo>
                  <a:pt x="76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742950" y="1327147"/>
            <a:ext cx="7251697" cy="3441697"/>
          </a:xfrm>
          <a:custGeom>
            <a:avLst/>
            <a:gdLst/>
            <a:ahLst/>
            <a:cxnLst/>
            <a:rect l="l" t="t" r="r" b="b"/>
            <a:pathLst>
              <a:path w="7251697" h="3441697">
                <a:moveTo>
                  <a:pt x="0" y="0"/>
                </a:moveTo>
                <a:lnTo>
                  <a:pt x="7251697" y="0"/>
                </a:lnTo>
                <a:lnTo>
                  <a:pt x="7251697" y="3441697"/>
                </a:lnTo>
                <a:lnTo>
                  <a:pt x="0" y="3441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-63503" y="-63503"/>
            <a:ext cx="12318692" cy="203197"/>
          </a:xfrm>
          <a:custGeom>
            <a:avLst/>
            <a:gdLst/>
            <a:ahLst/>
            <a:cxnLst/>
            <a:rect l="l" t="t" r="r" b="b"/>
            <a:pathLst>
              <a:path w="12318692" h="203197">
                <a:moveTo>
                  <a:pt x="0" y="0"/>
                </a:moveTo>
                <a:lnTo>
                  <a:pt x="12318692" y="0"/>
                </a:lnTo>
                <a:lnTo>
                  <a:pt x="12318692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8187690" y="1329690"/>
            <a:ext cx="3686813" cy="3839213"/>
          </a:xfrm>
          <a:custGeom>
            <a:avLst/>
            <a:gdLst/>
            <a:ahLst/>
            <a:cxnLst/>
            <a:rect l="l" t="t" r="r" b="b"/>
            <a:pathLst>
              <a:path w="3686813" h="3839213">
                <a:moveTo>
                  <a:pt x="0" y="0"/>
                </a:moveTo>
                <a:lnTo>
                  <a:pt x="3686813" y="0"/>
                </a:lnTo>
                <a:lnTo>
                  <a:pt x="3686813" y="3839213"/>
                </a:lnTo>
                <a:lnTo>
                  <a:pt x="0" y="38392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1434665" y="2693270"/>
            <a:ext cx="480174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9 özellik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7997" y="6477867"/>
            <a:ext cx="2316747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S&amp;P 500 • Feedforward Neural Network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0561" y="2693270"/>
            <a:ext cx="969693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64 nöron • ReLU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50558" y="2693270"/>
            <a:ext cx="594027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rate = 0.5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88758" y="2693270"/>
            <a:ext cx="969693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32 nöron • ReLU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5261" y="2693270"/>
            <a:ext cx="594027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rate = 0.5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87141" y="2693270"/>
            <a:ext cx="1064190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 nöron • Sigmoid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27076" y="6477867"/>
            <a:ext cx="184071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5 /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2797" y="741683"/>
            <a:ext cx="3117761" cy="49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Model Mimarisi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2638" y="1225039"/>
            <a:ext cx="53530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2797" y="1225039"/>
            <a:ext cx="4797323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Dense(64)→Dropout→Dense(32)→Dropout → Sigmoid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58200" y="1521933"/>
            <a:ext cx="2484177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ReLU • gizli katmanlarda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40276" y="1806531"/>
            <a:ext cx="4323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58200" y="2791939"/>
            <a:ext cx="2724198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Sigmoid • çıkış katmanında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30983" y="3076527"/>
            <a:ext cx="4323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8200" y="4061936"/>
            <a:ext cx="3160995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Dropout (%50) + Early Stopping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75313" y="4346524"/>
            <a:ext cx="4323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1221" y="2176301"/>
            <a:ext cx="426025" cy="194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Input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11866" y="2176301"/>
            <a:ext cx="497824" cy="194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Dense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20230" y="2176301"/>
            <a:ext cx="655901" cy="194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Dropout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20073" y="2176301"/>
            <a:ext cx="497824" cy="194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Dense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64924" y="2176301"/>
            <a:ext cx="655901" cy="194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Dropout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33181" y="2176301"/>
            <a:ext cx="562251" cy="194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Output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13190" y="3341761"/>
            <a:ext cx="495138" cy="149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tam-bağlı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21387" y="3341761"/>
            <a:ext cx="495138" cy="149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tam-bağlı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95767" y="3341761"/>
            <a:ext cx="638594" cy="149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 – 1 olasılık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6800" y="1531620"/>
            <a:ext cx="2523449" cy="21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İleri</a:t>
            </a:r>
            <a:r>
              <a:rPr lang="en-US" sz="12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en-US" sz="12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Besleme</a:t>
            </a:r>
            <a:r>
              <a:rPr lang="en-US" sz="12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en-US" sz="12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(Forward</a:t>
            </a:r>
            <a:r>
              <a:rPr lang="en-US" sz="12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en-US" sz="12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Pass)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8609" y="1760268"/>
            <a:ext cx="41177" cy="179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66800" y="1760268"/>
            <a:ext cx="4558884" cy="179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Girdivektörü→katmanlararasıtam-bağlı dönüşüm → Sigmoid olasılık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58200" y="3076527"/>
            <a:ext cx="2583590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Gerçeksayıyı (0,1)aralığına sıkıştırır.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58200" y="3263856"/>
            <a:ext cx="2894076" cy="355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Doğrudan ikili sınıflandırma olasılığı olarak yorumlanır.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58200" y="1806531"/>
            <a:ext cx="274351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Sıfırınaltını kırpar, türevlenebilir,seyrek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58200" y="1993849"/>
            <a:ext cx="3011300" cy="53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aktivasyon sağlar.</a:t>
            </a:r>
          </a:p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Vanishing gradient problemini büyük ölçüde azaltır.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58200" y="4356049"/>
            <a:ext cx="3180988" cy="71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Eğitimde rastgele %50nöron kapatılır — overfitting'e karşı.</a:t>
            </a:r>
          </a:p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Val-loss 10 epoch iyileşmezse eğitim durur; en iyi ağırlıklar geri yüklenir.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2318692" cy="203197"/>
          </a:xfrm>
          <a:custGeom>
            <a:avLst/>
            <a:gdLst/>
            <a:ahLst/>
            <a:cxnLst/>
            <a:rect l="l" t="t" r="r" b="b"/>
            <a:pathLst>
              <a:path w="12318692" h="203197">
                <a:moveTo>
                  <a:pt x="0" y="0"/>
                </a:moveTo>
                <a:lnTo>
                  <a:pt x="12318692" y="0"/>
                </a:lnTo>
                <a:lnTo>
                  <a:pt x="12318692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507997" y="635003"/>
            <a:ext cx="76200" cy="762000"/>
          </a:xfrm>
          <a:custGeom>
            <a:avLst/>
            <a:gdLst/>
            <a:ahLst/>
            <a:cxnLst/>
            <a:rect l="l" t="t" r="r" b="b"/>
            <a:pathLst>
              <a:path w="76200" h="762000">
                <a:moveTo>
                  <a:pt x="0" y="0"/>
                </a:moveTo>
                <a:lnTo>
                  <a:pt x="76200" y="0"/>
                </a:lnTo>
                <a:lnTo>
                  <a:pt x="76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4" name="Group 4"/>
          <p:cNvGrpSpPr/>
          <p:nvPr/>
        </p:nvGrpSpPr>
        <p:grpSpPr>
          <a:xfrm>
            <a:off x="635003" y="2866320"/>
            <a:ext cx="7620000" cy="2340683"/>
            <a:chOff x="0" y="0"/>
            <a:chExt cx="10160000" cy="31209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60000" cy="3120898"/>
            </a:xfrm>
            <a:custGeom>
              <a:avLst/>
              <a:gdLst/>
              <a:ahLst/>
              <a:cxnLst/>
              <a:rect l="l" t="t" r="r" b="b"/>
              <a:pathLst>
                <a:path w="10160000" h="3120898">
                  <a:moveTo>
                    <a:pt x="0" y="0"/>
                  </a:moveTo>
                  <a:lnTo>
                    <a:pt x="10160000" y="0"/>
                  </a:lnTo>
                  <a:lnTo>
                    <a:pt x="10160000" y="3120898"/>
                  </a:lnTo>
                  <a:lnTo>
                    <a:pt x="0" y="3120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Freeform 6"/>
          <p:cNvSpPr/>
          <p:nvPr/>
        </p:nvSpPr>
        <p:spPr>
          <a:xfrm>
            <a:off x="8441693" y="1333500"/>
            <a:ext cx="3432810" cy="3835403"/>
          </a:xfrm>
          <a:custGeom>
            <a:avLst/>
            <a:gdLst/>
            <a:ahLst/>
            <a:cxnLst/>
            <a:rect l="l" t="t" r="r" b="b"/>
            <a:pathLst>
              <a:path w="3432810" h="3835403">
                <a:moveTo>
                  <a:pt x="0" y="0"/>
                </a:moveTo>
                <a:lnTo>
                  <a:pt x="3432810" y="0"/>
                </a:lnTo>
                <a:lnTo>
                  <a:pt x="3432810" y="3835403"/>
                </a:lnTo>
                <a:lnTo>
                  <a:pt x="0" y="3835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507997" y="6477867"/>
            <a:ext cx="2316747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S&amp;P 500 • Feedforward Neural Network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27076" y="6477867"/>
            <a:ext cx="184071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6 /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2797" y="741683"/>
            <a:ext cx="6092609" cy="71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Eğitim Süreci ve Kayıp Analizi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12203" y="3934939"/>
            <a:ext cx="1994678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Overfitting önlemleri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70444" y="4219527"/>
            <a:ext cx="4323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12203" y="2537936"/>
            <a:ext cx="2499798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Eğitim eğrisi ne anlatıyor?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65937" y="2822524"/>
            <a:ext cx="4323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2797" y="5644839"/>
            <a:ext cx="8668236" cy="179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Not: Finansal veride kayıp eğrisinin düzleşmesi, modelin mevcut özelliklerle öğrenebileceği sinyalin tavanına yaklaştığına işaret eder.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12203" y="1509970"/>
            <a:ext cx="3994771" cy="67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"/>
              </a:lnSpc>
            </a:pPr>
            <a:r>
              <a:rPr lang="en-US" sz="1048" b="1">
                <a:solidFill>
                  <a:srgbClr val="22D3E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BINARY CROSSENTROPY</a:t>
            </a:r>
          </a:p>
          <a:p>
            <a:pPr algn="l">
              <a:lnSpc>
                <a:spcPts val="524"/>
              </a:lnSpc>
            </a:pPr>
            <a:endParaRPr lang="en-US" sz="1048" b="1">
              <a:solidFill>
                <a:srgbClr val="22D3EE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629"/>
              </a:lnSpc>
            </a:pPr>
            <a:r>
              <a:rPr lang="en-US" sz="1258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L = -[y·log(y) + (1-y)log(1-y)]</a:t>
            </a:r>
          </a:p>
          <a:p>
            <a:pPr algn="l">
              <a:lnSpc>
                <a:spcPts val="629"/>
              </a:lnSpc>
            </a:pPr>
            <a:endParaRPr lang="en-US" sz="1258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498"/>
              </a:lnSpc>
            </a:pPr>
            <a:endParaRPr lang="en-US" sz="1258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498"/>
              </a:lnSpc>
            </a:pPr>
            <a:endParaRPr lang="en-US" sz="1258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498"/>
              </a:lnSpc>
            </a:pPr>
            <a:r>
              <a:rPr lang="en-US" sz="996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İkili sınıflandırmanın standart kayıp fonksiyonu —</a:t>
            </a:r>
          </a:p>
          <a:p>
            <a:pPr algn="l">
              <a:lnSpc>
                <a:spcPts val="498"/>
              </a:lnSpc>
            </a:pPr>
            <a:endParaRPr lang="en-US" sz="996">
              <a:solidFill>
                <a:srgbClr val="F8FAFC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l" rtl="1">
              <a:lnSpc>
                <a:spcPts val="498"/>
              </a:lnSpc>
            </a:pPr>
            <a:endParaRPr lang="en-US" sz="996">
              <a:solidFill>
                <a:srgbClr val="F8FAFC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l">
              <a:lnSpc>
                <a:spcPts val="498"/>
              </a:lnSpc>
            </a:pPr>
            <a:r>
              <a:rPr lang="en-US" sz="996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olasılıkların doğruluğunu cezalandırır.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12203" y="4229052"/>
            <a:ext cx="2678630" cy="88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Dropout(0.5)— hergeçiştefarklı alt-ağ eğitilir.</a:t>
            </a:r>
          </a:p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Early Stopping (patience=10) — en iyi val-loss'a döner.</a:t>
            </a:r>
          </a:p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Mini-batch = 64 ile gürültülü gradient.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12203" y="2822524"/>
            <a:ext cx="2949540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Train ve validation eğrileribenzerseviyede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12203" y="3009852"/>
            <a:ext cx="2783900" cy="53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— büyük bir overfitting gözlenmiyor. Adam optimizer ilk epoch'larda hızlı iner, sonra düzleşir.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2318692" cy="203197"/>
          </a:xfrm>
          <a:custGeom>
            <a:avLst/>
            <a:gdLst/>
            <a:ahLst/>
            <a:cxnLst/>
            <a:rect l="l" t="t" r="r" b="b"/>
            <a:pathLst>
              <a:path w="12318692" h="203197">
                <a:moveTo>
                  <a:pt x="0" y="0"/>
                </a:moveTo>
                <a:lnTo>
                  <a:pt x="12318692" y="0"/>
                </a:lnTo>
                <a:lnTo>
                  <a:pt x="12318692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507997" y="635003"/>
            <a:ext cx="76200" cy="762000"/>
          </a:xfrm>
          <a:custGeom>
            <a:avLst/>
            <a:gdLst/>
            <a:ahLst/>
            <a:cxnLst/>
            <a:rect l="l" t="t" r="r" b="b"/>
            <a:pathLst>
              <a:path w="76200" h="762000">
                <a:moveTo>
                  <a:pt x="0" y="0"/>
                </a:moveTo>
                <a:lnTo>
                  <a:pt x="76200" y="0"/>
                </a:lnTo>
                <a:lnTo>
                  <a:pt x="76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4" name="Group 4"/>
          <p:cNvGrpSpPr/>
          <p:nvPr/>
        </p:nvGrpSpPr>
        <p:grpSpPr>
          <a:xfrm>
            <a:off x="635003" y="1905000"/>
            <a:ext cx="8215951" cy="3302003"/>
            <a:chOff x="0" y="0"/>
            <a:chExt cx="10954601" cy="44026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54639" cy="4402709"/>
            </a:xfrm>
            <a:custGeom>
              <a:avLst/>
              <a:gdLst/>
              <a:ahLst/>
              <a:cxnLst/>
              <a:rect l="l" t="t" r="r" b="b"/>
              <a:pathLst>
                <a:path w="10954639" h="4402709">
                  <a:moveTo>
                    <a:pt x="0" y="0"/>
                  </a:moveTo>
                  <a:lnTo>
                    <a:pt x="10954639" y="0"/>
                  </a:lnTo>
                  <a:lnTo>
                    <a:pt x="10954639" y="4402709"/>
                  </a:lnTo>
                  <a:lnTo>
                    <a:pt x="0" y="4402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Freeform 6"/>
          <p:cNvSpPr/>
          <p:nvPr/>
        </p:nvSpPr>
        <p:spPr>
          <a:xfrm>
            <a:off x="9037634" y="1650997"/>
            <a:ext cx="2861958" cy="3771900"/>
          </a:xfrm>
          <a:custGeom>
            <a:avLst/>
            <a:gdLst/>
            <a:ahLst/>
            <a:cxnLst/>
            <a:rect l="l" t="t" r="r" b="b"/>
            <a:pathLst>
              <a:path w="2861958" h="3771900">
                <a:moveTo>
                  <a:pt x="0" y="0"/>
                </a:moveTo>
                <a:lnTo>
                  <a:pt x="2861958" y="0"/>
                </a:lnTo>
                <a:lnTo>
                  <a:pt x="2861958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507997" y="6477867"/>
            <a:ext cx="2316747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S&amp;P 500 • Feedforward Neural Network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27076" y="6477867"/>
            <a:ext cx="184071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7 /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2797" y="741683"/>
            <a:ext cx="6148035" cy="71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F172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Performans Değerlendirmesi 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08144" y="2728436"/>
            <a:ext cx="1725216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AUC nasıl okunur?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39247" y="3013024"/>
            <a:ext cx="4323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08144" y="4315939"/>
            <a:ext cx="2985602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1E3A8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Neden yükseliş sınıfına meyilli?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33331" y="4600527"/>
            <a:ext cx="4323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003" y="5489267"/>
            <a:ext cx="5826395" cy="42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000">
                <a:solidFill>
                  <a:srgbClr val="64748B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Matris: "1 (yükseliş)" tahminleri baskın — dengesiz dağılım ve 0.50 eşiğinin birleşik etkisi. ROC 45° köşegene yakın: mevcut 9 özellik ile elde edilen ayrıştırma kapasitesi sınırlı.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82751" y="1804987"/>
            <a:ext cx="1065343" cy="68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lang="en-US" sz="1000" b="1">
                <a:solidFill>
                  <a:srgbClr val="22D3E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AUC DEĞERİ</a:t>
            </a:r>
          </a:p>
          <a:p>
            <a:pPr algn="l">
              <a:lnSpc>
                <a:spcPts val="3647"/>
              </a:lnSpc>
            </a:pPr>
            <a:r>
              <a:rPr lang="en-US" sz="26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0.514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08144" y="4600527"/>
            <a:ext cx="2181854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Eğitim</a:t>
            </a:r>
            <a:r>
              <a:rPr lang="en-US" sz="105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veri</a:t>
            </a:r>
            <a:r>
              <a:rPr lang="en-US" sz="105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setinde</a:t>
            </a:r>
            <a:r>
              <a:rPr lang="en-US" sz="105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sınıf</a:t>
            </a:r>
            <a:r>
              <a:rPr lang="en-US" sz="105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dengesi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08144" y="4787856"/>
            <a:ext cx="2199380" cy="53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hafif yükseliş yönlüdür. class_weight kullanılmadığından model çoğunluğa kayar.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08144" y="3013024"/>
            <a:ext cx="2025577" cy="1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AUC = 0.5 → rastgeletahmin.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08144" y="3200352"/>
            <a:ext cx="2265264" cy="88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AUC = 1.0 → mükemmel ayrıştırma.</a:t>
            </a:r>
          </a:p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Modelimiz 0.514 ile rastgeleliğin az üzerinde — sinyal zayıf, ancak sıfır değil.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584197"/>
            <a:ext cx="888997" cy="50797"/>
          </a:xfrm>
          <a:custGeom>
            <a:avLst/>
            <a:gdLst/>
            <a:ahLst/>
            <a:cxnLst/>
            <a:rect l="l" t="t" r="r" b="b"/>
            <a:pathLst>
              <a:path w="888997" h="50797">
                <a:moveTo>
                  <a:pt x="0" y="0"/>
                </a:moveTo>
                <a:lnTo>
                  <a:pt x="888997" y="0"/>
                </a:lnTo>
                <a:lnTo>
                  <a:pt x="8889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694058" y="2091052"/>
            <a:ext cx="3522459" cy="2612393"/>
          </a:xfrm>
          <a:custGeom>
            <a:avLst/>
            <a:gdLst/>
            <a:ahLst/>
            <a:cxnLst/>
            <a:rect l="l" t="t" r="r" b="b"/>
            <a:pathLst>
              <a:path w="3522459" h="2612393">
                <a:moveTo>
                  <a:pt x="0" y="0"/>
                </a:moveTo>
                <a:lnTo>
                  <a:pt x="3522459" y="0"/>
                </a:lnTo>
                <a:lnTo>
                  <a:pt x="3522459" y="2612393"/>
                </a:lnTo>
                <a:lnTo>
                  <a:pt x="0" y="2612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4334618" y="2091052"/>
            <a:ext cx="3522459" cy="2612393"/>
          </a:xfrm>
          <a:custGeom>
            <a:avLst/>
            <a:gdLst/>
            <a:ahLst/>
            <a:cxnLst/>
            <a:rect l="l" t="t" r="r" b="b"/>
            <a:pathLst>
              <a:path w="3522459" h="2612393">
                <a:moveTo>
                  <a:pt x="0" y="0"/>
                </a:moveTo>
                <a:lnTo>
                  <a:pt x="3522459" y="0"/>
                </a:lnTo>
                <a:lnTo>
                  <a:pt x="3522459" y="2612393"/>
                </a:lnTo>
                <a:lnTo>
                  <a:pt x="0" y="2612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TextBox 5"/>
          <p:cNvSpPr txBox="1"/>
          <p:nvPr/>
        </p:nvSpPr>
        <p:spPr>
          <a:xfrm>
            <a:off x="1168403" y="2795759"/>
            <a:ext cx="2911802" cy="1156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AUC ≈ 0.514, test doğruluğu ~%51 Feedforward Dense modeli rastgeleliğin</a:t>
            </a:r>
          </a:p>
          <a:p>
            <a:pPr algn="l">
              <a:lnSpc>
                <a:spcPts val="899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sınırında</a:t>
            </a:r>
          </a:p>
          <a:p>
            <a:pPr algn="l">
              <a:lnSpc>
                <a:spcPts val="2750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9 özellik ile günlük bağımsız örneklemler</a:t>
            </a:r>
          </a:p>
          <a:p>
            <a:pPr algn="l">
              <a:lnSpc>
                <a:spcPts val="550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kullanıldı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08963" y="2843384"/>
            <a:ext cx="2647550" cy="1299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Zaman serisi için shuffle=False ve leakage-safe scaling kritik</a:t>
            </a:r>
          </a:p>
          <a:p>
            <a:pPr algn="l">
              <a:lnSpc>
                <a:spcPts val="2700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Dropout + EarlyStopping overfitting'i</a:t>
            </a:r>
          </a:p>
          <a:p>
            <a:pPr algn="l">
              <a:lnSpc>
                <a:spcPts val="550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frenledi</a:t>
            </a:r>
          </a:p>
          <a:p>
            <a:pPr algn="l">
              <a:lnSpc>
                <a:spcPts val="2750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Sigmoid dağılımının sıkışması sinyal</a:t>
            </a:r>
          </a:p>
          <a:p>
            <a:pPr algn="l">
              <a:lnSpc>
                <a:spcPts val="550"/>
              </a:lnSpc>
            </a:pPr>
            <a:r>
              <a:rPr lang="en-US" sz="11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sınırını gösteriyor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2000" y="788832"/>
            <a:ext cx="8321935" cy="60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3"/>
              </a:lnSpc>
            </a:pPr>
            <a:r>
              <a:rPr lang="en-US" sz="1100" b="1">
                <a:solidFill>
                  <a:srgbClr val="22D3E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SONUÇ VE İLERİ ADIMLAR</a:t>
            </a:r>
          </a:p>
          <a:p>
            <a:pPr algn="l">
              <a:lnSpc>
                <a:spcPts val="2958"/>
              </a:lnSpc>
            </a:pPr>
            <a:endParaRPr lang="en-US" sz="1100" b="1">
              <a:solidFill>
                <a:srgbClr val="22D3EE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65197" y="2461736"/>
            <a:ext cx="1388497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22D3E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Mevcut Durum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05766" y="2461736"/>
            <a:ext cx="1515046" cy="2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F59E0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Öğrendiklerimiz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7997" y="6477867"/>
            <a:ext cx="2316747" cy="1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S&amp;P 500 • Feedforward Neural Network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27076" y="6477867"/>
            <a:ext cx="145494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F8FAF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8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1218</Words>
  <Application>Microsoft Office PowerPoint</Application>
  <PresentationFormat>Geniş ekran</PresentationFormat>
  <Paragraphs>197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5" baseType="lpstr">
      <vt:lpstr>Calibri</vt:lpstr>
      <vt:lpstr>DejaVu Sans Bold</vt:lpstr>
      <vt:lpstr>Arial</vt:lpstr>
      <vt:lpstr>DejaVu Sans Light</vt:lpstr>
      <vt:lpstr>Google Sans Text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SP500_DerinOgrenme_Sunum.pdf</dc:title>
  <cp:lastModifiedBy>berat ozkan</cp:lastModifiedBy>
  <cp:revision>6</cp:revision>
  <dcterms:created xsi:type="dcterms:W3CDTF">2006-08-16T00:00:00Z</dcterms:created>
  <dcterms:modified xsi:type="dcterms:W3CDTF">2026-04-28T07:56:42Z</dcterms:modified>
  <dc:identifier>DAHIDLAmb7c</dc:identifier>
</cp:coreProperties>
</file>